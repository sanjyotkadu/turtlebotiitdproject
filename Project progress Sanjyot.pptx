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69" r:id="rId3"/>
    <p:sldId id="295" r:id="rId4"/>
    <p:sldId id="271" r:id="rId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341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DF952-7213-4B72-B7DE-6E4FAC1FA586}" type="datetimeFigureOut">
              <a:rPr lang="en-US" smtClean="0"/>
              <a:pPr/>
              <a:t>2026-08-16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7BA74-4FCD-4F7E-87DB-6A7D4D8A9A39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54A68-8924-4107-84F9-AA9B5F4872F8}" type="datetime1">
              <a:rPr lang="en-US" smtClean="0"/>
              <a:pPr/>
              <a:t>2026-08-16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6EFA4-8A0B-45A3-AAFA-305AC1885EDB}" type="datetime1">
              <a:rPr lang="en-US" smtClean="0"/>
              <a:pPr/>
              <a:t>2026-08-16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C7435-CCFF-4ACC-ADC8-E4569557EB7A}" type="datetime1">
              <a:rPr lang="en-US" smtClean="0"/>
              <a:pPr/>
              <a:t>2026-08-16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B593C-6C71-4E36-BEAD-4FF586D01772}" type="datetime1">
              <a:rPr lang="en-US" smtClean="0"/>
              <a:pPr/>
              <a:t>2026-08-16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DD33C-F00D-4E99-8BF2-CC9AA772367D}" type="datetime1">
              <a:rPr lang="en-US" smtClean="0"/>
              <a:pPr/>
              <a:t>2026-08-16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465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7283" y="1590802"/>
            <a:ext cx="10657433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8051" y="1347978"/>
            <a:ext cx="9835896" cy="1885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1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1AFDE-A02F-4882-B4CE-EA61A94FD793}" type="datetime1">
              <a:rPr lang="en-US" smtClean="0"/>
              <a:pPr/>
              <a:t>2026-08-16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aknL4u0YpY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youtube.com/watch?v=SzrNauayHow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jyotkadu/TurtleBotIITDProject/tree/TB_001_002_working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735310" cy="6858000"/>
            <a:chOff x="0" y="0"/>
            <a:chExt cx="1073531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615935" cy="61196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124955"/>
              <a:ext cx="10735056" cy="73304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6200" y="6318911"/>
            <a:ext cx="84582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EXECUTIVE PROGRAMME IN ROBOTICS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686800" y="1770888"/>
            <a:ext cx="3266034" cy="45461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397510" marR="385445" indent="-635" algn="ctr">
              <a:lnSpc>
                <a:spcPct val="100000"/>
              </a:lnSpc>
              <a:spcBef>
                <a:spcPts val="185"/>
              </a:spcBef>
            </a:pPr>
            <a:r>
              <a:rPr lang="en-US" sz="2800" b="1" spc="-215" dirty="0">
                <a:latin typeface="Arial"/>
                <a:cs typeface="Arial"/>
              </a:rPr>
              <a:t>Project Update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10142" y="38532"/>
            <a:ext cx="3142692" cy="636166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553998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D8DF43EC-D813-7448-1223-147D4A21BA0B}"/>
              </a:ext>
            </a:extLst>
          </p:cNvPr>
          <p:cNvSpPr txBox="1"/>
          <p:nvPr/>
        </p:nvSpPr>
        <p:spPr>
          <a:xfrm>
            <a:off x="9040050" y="3566872"/>
            <a:ext cx="2682876" cy="3063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n-IN" sz="2000" b="1" spc="-55" dirty="0">
                <a:latin typeface="Microsoft Sans Serif"/>
                <a:cs typeface="Microsoft Sans Serif"/>
              </a:rPr>
              <a:t>Name: </a:t>
            </a:r>
            <a:r>
              <a:rPr lang="en-IN" sz="2000" b="1" spc="-55" dirty="0" err="1">
                <a:latin typeface="Microsoft Sans Serif"/>
                <a:cs typeface="Microsoft Sans Serif"/>
              </a:rPr>
              <a:t>Sanjyot</a:t>
            </a:r>
            <a:r>
              <a:rPr lang="en-IN" sz="2000" b="1" spc="-55" dirty="0">
                <a:latin typeface="Microsoft Sans Serif"/>
                <a:cs typeface="Microsoft Sans Serif"/>
              </a:rPr>
              <a:t> KADU</a:t>
            </a: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lang="en-IN" sz="2000" b="1" spc="-55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n-US" sz="2000" b="1" spc="-55" dirty="0">
                <a:latin typeface="Microsoft Sans Serif"/>
                <a:cs typeface="Microsoft Sans Serif"/>
              </a:rPr>
              <a:t>Kit: 2</a:t>
            </a: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lang="en-IN" sz="2000" b="1" spc="-55" dirty="0">
              <a:latin typeface="Microsoft Sans Serif"/>
              <a:cs typeface="Microsoft Sans Serif"/>
            </a:endParaRPr>
          </a:p>
          <a:p>
            <a:r>
              <a:rPr lang="en-IN" sz="2000" b="1" spc="-55" dirty="0">
                <a:latin typeface="Microsoft Sans Serif"/>
                <a:cs typeface="Microsoft Sans Serif"/>
              </a:rPr>
              <a:t>Project Name: </a:t>
            </a:r>
            <a:endParaRPr lang="en-IN" dirty="0"/>
          </a:p>
          <a:p>
            <a:r>
              <a:rPr lang="en-US" dirty="0"/>
              <a:t> Odometry with trajectory planning (</a:t>
            </a:r>
            <a:r>
              <a:rPr lang="en-US" dirty="0" err="1"/>
              <a:t>IMU+encoders</a:t>
            </a:r>
            <a:r>
              <a:rPr lang="en-US" dirty="0"/>
              <a:t>) (Advanced)	</a:t>
            </a: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lang="en-US" sz="2000" b="1" spc="-55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n-US" sz="2000" b="1" spc="-55" dirty="0">
                <a:latin typeface="Microsoft Sans Serif"/>
                <a:cs typeface="Microsoft Sans Serif"/>
              </a:rPr>
              <a:t>Date: 16-08-2026</a:t>
            </a:r>
            <a:endParaRPr sz="2000" b="1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465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54907" y="39370"/>
            <a:ext cx="4251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2400" b="1" i="0" dirty="0">
                <a:solidFill>
                  <a:srgbClr val="000000"/>
                </a:solidFill>
                <a:effectLst/>
                <a:latin typeface="var(--ff-lato)"/>
              </a:rPr>
              <a:t>Project Update 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2316" y="50292"/>
            <a:ext cx="519683" cy="498347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D89863B9-58C5-16B6-8E8A-543F83336E6D}"/>
              </a:ext>
            </a:extLst>
          </p:cNvPr>
          <p:cNvSpPr txBox="1"/>
          <p:nvPr/>
        </p:nvSpPr>
        <p:spPr>
          <a:xfrm>
            <a:off x="446531" y="575310"/>
            <a:ext cx="11225785" cy="524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000" b="1" i="0" dirty="0">
                <a:solidFill>
                  <a:srgbClr val="000000"/>
                </a:solidFill>
                <a:effectLst/>
                <a:latin typeface="var(--ff-lato)"/>
              </a:rPr>
              <a:t>1. Structure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var(--ff-lato)"/>
              </a:rPr>
              <a:t>Motor Movements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var(--ff-lato)"/>
              </a:rPr>
              <a:t>PID for Wheel speed using Encoder Feedback</a:t>
            </a:r>
            <a:endParaRPr lang="en-US" sz="2000" b="1" i="0" dirty="0">
              <a:solidFill>
                <a:srgbClr val="000000"/>
              </a:solidFill>
              <a:effectLst/>
              <a:latin typeface="var(--ff-lato)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var(--ff-lato)"/>
              </a:rPr>
              <a:t>Proportional Algorithm for IMU for heading straight and direction correction </a:t>
            </a:r>
            <a:endParaRPr lang="en-IN" sz="2000" b="1" dirty="0">
              <a:solidFill>
                <a:srgbClr val="000000"/>
              </a:solidFill>
              <a:latin typeface="var(--ff-lato)"/>
            </a:endParaRPr>
          </a:p>
          <a:p>
            <a:r>
              <a:rPr lang="en-IN" sz="2000" b="1" dirty="0">
                <a:solidFill>
                  <a:srgbClr val="000000"/>
                </a:solidFill>
                <a:latin typeface="var(--ff-lato)"/>
              </a:rPr>
              <a:t>2. Electronics (Sensors and actuators)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var(--ff-lato)"/>
              </a:rPr>
              <a:t>Teensy 4.1, FLYSKY RX and TX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var(--ff-lato)"/>
              </a:rPr>
              <a:t>IMU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var(--ff-lato)"/>
              </a:rPr>
              <a:t>ENCODER</a:t>
            </a:r>
            <a:endParaRPr lang="en-IN" sz="2000" b="1" dirty="0">
              <a:solidFill>
                <a:srgbClr val="000000"/>
              </a:solidFill>
              <a:latin typeface="var(--ff-lato)"/>
            </a:endParaRPr>
          </a:p>
          <a:p>
            <a:r>
              <a:rPr lang="en-IN" sz="2000" b="1" dirty="0">
                <a:solidFill>
                  <a:srgbClr val="000000"/>
                </a:solidFill>
                <a:latin typeface="var(--ff-lato)"/>
              </a:rPr>
              <a:t>3. Interfacing (Coding and working)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var(--ff-lato)"/>
              </a:rPr>
              <a:t>JOYSTICK Gives X and Y and  W -&gt; Kinematics </a:t>
            </a:r>
            <a:r>
              <a:rPr lang="en-IN" sz="2000" b="1" dirty="0">
                <a:solidFill>
                  <a:srgbClr val="000000"/>
                </a:solidFill>
                <a:latin typeface="var(--ff-lato)"/>
                <a:sym typeface="Wingdings" panose="05000000000000000000" pitchFamily="2" charset="2"/>
              </a:rPr>
              <a:t> Power calculation Wheel movement</a:t>
            </a:r>
            <a:endParaRPr lang="en-IN" sz="2000" b="1" dirty="0">
              <a:solidFill>
                <a:srgbClr val="000000"/>
              </a:solidFill>
              <a:latin typeface="var(--ff-lato)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var(--ff-lato)"/>
              </a:rPr>
              <a:t>ENOODER FEED BACK </a:t>
            </a:r>
            <a:r>
              <a:rPr lang="en-IN" sz="2000" b="1" dirty="0">
                <a:solidFill>
                  <a:srgbClr val="000000"/>
                </a:solidFill>
                <a:latin typeface="var(--ff-lato)"/>
                <a:sym typeface="Wingdings" panose="05000000000000000000" pitchFamily="2" charset="2"/>
              </a:rPr>
              <a:t> PID with Target speed  Power calculation Wheel movement</a:t>
            </a:r>
            <a:endParaRPr lang="en-IN" sz="2000" b="1" dirty="0">
              <a:solidFill>
                <a:srgbClr val="000000"/>
              </a:solidFill>
              <a:latin typeface="var(--ff-lato)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var(--ff-lato)"/>
              </a:rPr>
              <a:t>IMU HEADING Correction with Proportional algorithm </a:t>
            </a:r>
            <a:r>
              <a:rPr lang="en-IN" sz="2000" b="1" dirty="0">
                <a:solidFill>
                  <a:srgbClr val="000000"/>
                </a:solidFill>
                <a:latin typeface="var(--ff-lato)"/>
                <a:sym typeface="Wingdings" panose="05000000000000000000" pitchFamily="2" charset="2"/>
              </a:rPr>
              <a:t> Power calculation Wheel movement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var(--ff-lato)"/>
              </a:rPr>
              <a:t>Way point navigation using Inverse </a:t>
            </a:r>
            <a:r>
              <a:rPr lang="en-IN" sz="2000" b="1" dirty="0" err="1">
                <a:solidFill>
                  <a:srgbClr val="000000"/>
                </a:solidFill>
                <a:latin typeface="var(--ff-lato)"/>
              </a:rPr>
              <a:t>Kinamitics</a:t>
            </a:r>
            <a:r>
              <a:rPr lang="en-IN" sz="2000" b="1" dirty="0">
                <a:solidFill>
                  <a:srgbClr val="000000"/>
                </a:solidFill>
                <a:latin typeface="var(--ff-lato)"/>
              </a:rPr>
              <a:t> </a:t>
            </a:r>
          </a:p>
          <a:p>
            <a:r>
              <a:rPr lang="en-US" sz="2000" b="1" dirty="0">
                <a:solidFill>
                  <a:srgbClr val="000000"/>
                </a:solidFill>
                <a:latin typeface="var(--ff-lato)"/>
              </a:rPr>
              <a:t>4. Testing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var(--ff-lato)"/>
                <a:hlinkClick r:id="rId3"/>
              </a:rPr>
              <a:t>https://www.youtube.com/watch?v=gaknL4u0YpY</a:t>
            </a:r>
            <a:endParaRPr lang="en-US" sz="2000" b="1" dirty="0">
              <a:solidFill>
                <a:srgbClr val="000000"/>
              </a:solidFill>
              <a:latin typeface="var(--ff-lato)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0000"/>
              </a:solidFill>
              <a:latin typeface="var(--ff-lato)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var(--ff-lato)"/>
                <a:hlinkClick r:id="rId4"/>
              </a:rPr>
              <a:t>https://www.youtube.com/watch?v=SzrNauayHow</a:t>
            </a:r>
            <a:endParaRPr lang="en-US" sz="2000" b="1" dirty="0">
              <a:solidFill>
                <a:srgbClr val="000000"/>
              </a:solidFill>
              <a:latin typeface="var(--ff-lato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465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54907" y="39370"/>
            <a:ext cx="4251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2400" b="1" i="0" dirty="0">
                <a:solidFill>
                  <a:srgbClr val="000000"/>
                </a:solidFill>
                <a:effectLst/>
                <a:latin typeface="var(--ff-lato)"/>
              </a:rPr>
              <a:t>Project Update 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2316" y="50292"/>
            <a:ext cx="519683" cy="498347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D89863B9-58C5-16B6-8E8A-543F83336E6D}"/>
              </a:ext>
            </a:extLst>
          </p:cNvPr>
          <p:cNvSpPr txBox="1"/>
          <p:nvPr/>
        </p:nvSpPr>
        <p:spPr>
          <a:xfrm>
            <a:off x="446530" y="1447800"/>
            <a:ext cx="11225786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var(--ff-lato)"/>
              </a:rPr>
              <a:t>CODE :</a:t>
            </a:r>
          </a:p>
          <a:p>
            <a:r>
              <a:rPr lang="en-US" sz="2400" b="1" dirty="0">
                <a:solidFill>
                  <a:srgbClr val="000000"/>
                </a:solidFill>
                <a:latin typeface="var(--ff-lato)"/>
                <a:hlinkClick r:id="rId3"/>
              </a:rPr>
              <a:t>https://github.com/sanjyotkadu/TurtleBotIITDProject/tree/TB_001_002_working</a:t>
            </a:r>
            <a:endParaRPr lang="en-US" sz="2400" b="1" dirty="0">
              <a:solidFill>
                <a:srgbClr val="000000"/>
              </a:solidFill>
              <a:latin typeface="var(--ff-lato)"/>
            </a:endParaRPr>
          </a:p>
          <a:p>
            <a:endParaRPr lang="en-US" sz="2400" b="1" dirty="0">
              <a:solidFill>
                <a:srgbClr val="000000"/>
              </a:solidFill>
              <a:latin typeface="var(--ff-lato)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var(--ff-lato)"/>
              </a:rPr>
              <a:t>Issues faced in detail:</a:t>
            </a:r>
          </a:p>
          <a:p>
            <a:r>
              <a:rPr lang="en-US" sz="2400" b="1" dirty="0">
                <a:solidFill>
                  <a:srgbClr val="000000"/>
                </a:solidFill>
                <a:latin typeface="var(--ff-lato)"/>
              </a:rPr>
              <a:t>- The Bot is taking turn little ahead of target position this needs to be corrected</a:t>
            </a:r>
          </a:p>
          <a:p>
            <a:r>
              <a:rPr lang="en-US" sz="2400" b="1" dirty="0">
                <a:solidFill>
                  <a:srgbClr val="000000"/>
                </a:solidFill>
                <a:latin typeface="var(--ff-lato)"/>
              </a:rPr>
              <a:t>- Future implementation for Obstruction avoidance and A* algorithm</a:t>
            </a:r>
          </a:p>
          <a:p>
            <a:r>
              <a:rPr lang="en-US" sz="2400" b="1" dirty="0">
                <a:solidFill>
                  <a:srgbClr val="000000"/>
                </a:solidFill>
                <a:latin typeface="var(--ff-lato)"/>
              </a:rPr>
              <a:t>-movement using GPS sensor</a:t>
            </a:r>
          </a:p>
          <a:p>
            <a:endParaRPr lang="en-US" sz="2400" b="1" dirty="0">
              <a:solidFill>
                <a:srgbClr val="000000"/>
              </a:solidFill>
              <a:latin typeface="var(--ff-lato)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var(--ff-lato)"/>
              </a:rPr>
              <a:t>Help needed for: Any suggestion ?</a:t>
            </a:r>
          </a:p>
        </p:txBody>
      </p:sp>
    </p:spTree>
    <p:extLst>
      <p:ext uri="{BB962C8B-B14F-4D97-AF65-F5344CB8AC3E}">
        <p14:creationId xmlns:p14="http://schemas.microsoft.com/office/powerpoint/2010/main" val="257726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50748"/>
              <a:ext cx="12189460" cy="744220"/>
            </a:xfrm>
            <a:custGeom>
              <a:avLst/>
              <a:gdLst/>
              <a:ahLst/>
              <a:cxnLst/>
              <a:rect l="l" t="t" r="r" b="b"/>
              <a:pathLst>
                <a:path w="12189460" h="744219">
                  <a:moveTo>
                    <a:pt x="12188952" y="0"/>
                  </a:moveTo>
                  <a:lnTo>
                    <a:pt x="0" y="0"/>
                  </a:lnTo>
                  <a:lnTo>
                    <a:pt x="0" y="743712"/>
                  </a:lnTo>
                  <a:lnTo>
                    <a:pt x="12188952" y="743712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FFFFFF">
                <a:alpha val="6117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18489"/>
              <a:ext cx="12192000" cy="807720"/>
            </a:xfrm>
            <a:custGeom>
              <a:avLst/>
              <a:gdLst/>
              <a:ahLst/>
              <a:cxnLst/>
              <a:rect l="l" t="t" r="r" b="b"/>
              <a:pathLst>
                <a:path w="12192000" h="807719">
                  <a:moveTo>
                    <a:pt x="12192000" y="795020"/>
                  </a:moveTo>
                  <a:lnTo>
                    <a:pt x="0" y="795020"/>
                  </a:lnTo>
                  <a:lnTo>
                    <a:pt x="0" y="807720"/>
                  </a:lnTo>
                  <a:lnTo>
                    <a:pt x="12192000" y="807720"/>
                  </a:lnTo>
                  <a:lnTo>
                    <a:pt x="12192000" y="795020"/>
                  </a:lnTo>
                  <a:close/>
                </a:path>
                <a:path w="12192000" h="807719">
                  <a:moveTo>
                    <a:pt x="12192000" y="25400"/>
                  </a:moveTo>
                  <a:lnTo>
                    <a:pt x="0" y="25400"/>
                  </a:lnTo>
                  <a:lnTo>
                    <a:pt x="0" y="63500"/>
                  </a:lnTo>
                  <a:lnTo>
                    <a:pt x="0" y="744220"/>
                  </a:lnTo>
                  <a:lnTo>
                    <a:pt x="0" y="782320"/>
                  </a:lnTo>
                  <a:lnTo>
                    <a:pt x="12192000" y="782320"/>
                  </a:lnTo>
                  <a:lnTo>
                    <a:pt x="12192000" y="744220"/>
                  </a:lnTo>
                  <a:lnTo>
                    <a:pt x="12192000" y="64008"/>
                  </a:lnTo>
                  <a:lnTo>
                    <a:pt x="12157202" y="64008"/>
                  </a:lnTo>
                  <a:lnTo>
                    <a:pt x="12157202" y="744220"/>
                  </a:lnTo>
                  <a:lnTo>
                    <a:pt x="31750" y="744220"/>
                  </a:lnTo>
                  <a:lnTo>
                    <a:pt x="31750" y="63500"/>
                  </a:lnTo>
                  <a:lnTo>
                    <a:pt x="12192000" y="63500"/>
                  </a:lnTo>
                  <a:lnTo>
                    <a:pt x="12192000" y="25400"/>
                  </a:lnTo>
                  <a:close/>
                </a:path>
                <a:path w="12192000" h="807719">
                  <a:moveTo>
                    <a:pt x="12192000" y="1270"/>
                  </a:moveTo>
                  <a:lnTo>
                    <a:pt x="12189574" y="1270"/>
                  </a:lnTo>
                  <a:lnTo>
                    <a:pt x="12189574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12700"/>
                  </a:lnTo>
                  <a:lnTo>
                    <a:pt x="12189574" y="12700"/>
                  </a:lnTo>
                  <a:lnTo>
                    <a:pt x="12189574" y="13970"/>
                  </a:lnTo>
                  <a:lnTo>
                    <a:pt x="12192000" y="13970"/>
                  </a:lnTo>
                  <a:lnTo>
                    <a:pt x="12192000" y="12700"/>
                  </a:lnTo>
                  <a:lnTo>
                    <a:pt x="12192000" y="1270"/>
                  </a:lnTo>
                  <a:close/>
                </a:path>
              </a:pathLst>
            </a:custGeom>
            <a:solidFill>
              <a:srgbClr val="FFF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7044" y="3141725"/>
              <a:ext cx="2595372" cy="5745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426708"/>
              <a:ext cx="11753088" cy="43129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8738" y="6463385"/>
            <a:ext cx="693166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solidFill>
                  <a:srgbClr val="FFFFFF"/>
                </a:solidFill>
                <a:latin typeface="Times New Roman"/>
                <a:cs typeface="Times New Roman"/>
              </a:rPr>
              <a:t>EXECUTIVE PROGRAMME IN ROBOTICS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2819</TotalTime>
  <Words>227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Franklin Gothic Medium</vt:lpstr>
      <vt:lpstr>Microsoft Sans Serif</vt:lpstr>
      <vt:lpstr>Times New Roman</vt:lpstr>
      <vt:lpstr>var(--ff-lato)</vt:lpstr>
      <vt:lpstr>Office Theme</vt:lpstr>
      <vt:lpstr>Project Update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Gupta</dc:creator>
  <cp:lastModifiedBy>Sanjyot Kadu Diwakar</cp:lastModifiedBy>
  <cp:revision>91</cp:revision>
  <dcterms:created xsi:type="dcterms:W3CDTF">2022-01-07T05:57:20Z</dcterms:created>
  <dcterms:modified xsi:type="dcterms:W3CDTF">2026-08-16T01:11:17Z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2022-01-07T00:00:00Z</vt:filetime>
  </property>
</Properties>
</file>